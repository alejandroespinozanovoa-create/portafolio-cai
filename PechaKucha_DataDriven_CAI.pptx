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91440" cy="51435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</a:rPr>
              <a:t>70%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96A"/>
                </a:solidFill>
              </a:rPr>
              <a:t>de microempresas colombianas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B96A"/>
                </a:solidFill>
              </a:rPr>
              <a:t>opera SIN datos estructurados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Fuente: Joyanes Aguilar, 2021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82296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E8B96A"/>
                </a:solidFill>
              </a:rPr>
              <a:t>DATA-DRIVEN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84632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DDEE"/>
                </a:solidFill>
              </a:rPr>
              <a:t>Analítica Descriptiva para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DDEE"/>
                </a:solidFill>
              </a:rPr>
              <a:t>Microempresas de Servicios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3291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José Alejandro Espinoza Novoa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Ingeniería de Sistemas · UdeC Chía ·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4297680"/>
            <a:ext cx="3931920" cy="5029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CAI · CTeI · CÓDIGO CAI1002020613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1/20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02 · PLANTEAMIENTO DEL PROBLEMA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64008" cy="473659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El Problema: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96A"/>
                </a:solidFill>
              </a:rPr>
              <a:t>"Ceguera Informativa"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B96A"/>
                </a:solidFill>
              </a:rPr>
              <a:t>en Microempresas de Servicios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DDEE"/>
                </a:solidFill>
              </a:rPr>
              <a:t>La recolección de datos es empírica y manual.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DDEE"/>
                </a:solidFill>
              </a:rPr>
              <a:t>No existen indicadores ni reportes estructurados.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65176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Sin KPIs definidos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hay métricas de rendimiento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55848" y="2971800"/>
            <a:ext cx="265176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30175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Sin proceso ETL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01568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Sin extracción ni transformación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54496" y="2971800"/>
            <a:ext cx="2651760" cy="16916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0175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0216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Sin dashboards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00216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Decisiones sin datos reales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2/20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03 · CONTEXTO DEL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96A"/>
                </a:solidFill>
              </a:rPr>
              <a:t>¿Por qué es urgente?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1A2F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109728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MEDIT (Muñoz, 2019)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2763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El aprendizaje debe ser motor de transformación local. La academia debe conectarse con las necesidades reales del territorio.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1A2F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02920" cy="109728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231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Business Analytics (Joyanes, 2021)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Las microempresas que no adoptan analítica de datos quedan excluidas de los mercados globales emergentes.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1A2F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502920" cy="109728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6576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49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Municipio de Chía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09651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Unidad productiva local identificada con gestión empírica, sin arquitectura de datos ni tableros de control operativos.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3/20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PREGUNTA DE INVESTIGACIÓN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0" y="640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solidFill>
            <a:srgbClr val="141E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73152" cy="23774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7406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¿De qué manera el diseño e implementación de un modelo de analítica descriptiva permite optimizar el seguimiento de indicadores de rendimiento (KPIs) en una microempresa de servicios en Chía durante el periodo 2026–2027?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Periodo · 2026–2027  ·  Sector Servicios  ·  Municipio de Chía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4/20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05 · OBJETIVO GENERAL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64008" cy="4736592"/>
          </a:xfrm>
          <a:prstGeom prst="rect">
            <a:avLst/>
          </a:prstGeom>
          <a:solidFill>
            <a:srgbClr val="C997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Objetivo General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234440"/>
            <a:ext cx="8412480" cy="21031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3258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Diseñar un modelo de analítica descriptiva para la optimización de la gestión operativa y financiera en una microempresa del municipio de Chía, mediante la integración y visualización de datos estratégicos.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META · Reducción del 50% en tiempo de generación de reportes operativos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Indicador de éxito: Calificación &gt; 4.0/5.0 en prueba de usabilidad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5/20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06 · OBJETIVOS ESPECÍFICOS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2743200" cy="425196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640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BBCC"/>
                </a:solidFill>
              </a:rPr>
              <a:t>OBJ. 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Diagnosticar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1645920" cy="36576"/>
          </a:xfrm>
          <a:prstGeom prst="rect">
            <a:avLst/>
          </a:prstGeom>
          <a:solidFill>
            <a:srgbClr val="E8B96A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22402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</a:rPr>
              <a:t>Metodología actual de recolección y almacenamiento de datos. Identificar inconsistencias en flujos de información.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502920"/>
            <a:ext cx="2743200" cy="4251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640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BBCC"/>
                </a:solidFill>
              </a:rPr>
              <a:t>OBJ. 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2461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Estructurar ETL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794760" y="2103120"/>
            <a:ext cx="1645920" cy="36576"/>
          </a:xfrm>
          <a:prstGeom prst="rect">
            <a:avLst/>
          </a:prstGeom>
          <a:solidFill>
            <a:srgbClr val="E8B96A"/>
          </a:solidFill>
          <a:ln/>
        </p:spPr>
      </p:sp>
      <p:sp>
        <p:nvSpPr>
          <p:cNvPr id="15" name="Text 11"/>
          <p:cNvSpPr/>
          <p:nvPr/>
        </p:nvSpPr>
        <p:spPr>
          <a:xfrm>
            <a:off x="3383280" y="22402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</a:rPr>
              <a:t>Proceso de extracción, transformación y carga que alimente un tablero de control automatizado.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502920"/>
            <a:ext cx="2743200" cy="425196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640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BBCC"/>
                </a:solidFill>
              </a:rPr>
              <a:t>OBJ. 03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179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Validar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6766560" y="2103120"/>
            <a:ext cx="1645920" cy="36576"/>
          </a:xfrm>
          <a:prstGeom prst="rect">
            <a:avLst/>
          </a:prstGeom>
          <a:solidFill>
            <a:srgbClr val="E8B96A"/>
          </a:solidFill>
          <a:ln/>
        </p:spPr>
      </p:sp>
      <p:sp>
        <p:nvSpPr>
          <p:cNvPr id="21" name="Text 16"/>
          <p:cNvSpPr/>
          <p:nvPr/>
        </p:nvSpPr>
        <p:spPr>
          <a:xfrm>
            <a:off x="6355080" y="22402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Impacto del modelo en la agilidad de la toma de decisiones mediante pruebas de usabilidad.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6/20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07 · DESCRIPCIÓN DEL TEMA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64008" cy="473659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¿Qué es la Analítica Descriptiva?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303520" cy="3566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88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📊 Analítica Descriptiva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Describe y resume datos históricos para entender qué ha pasado en un negocio.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⚙️ ETL (Extract-Transform-Load)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Proceso para extraer, limpiar y centralizar datos de fuentes dispersas.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📈 KPIs (Key Performance Indicators)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Indicadores clave de rendimiento que miden el desempeño de la empresa.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398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🖥️ Dashboard / Tablero de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0325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Visualización interactiva que muestra los KPIs en tiempo real.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143000"/>
            <a:ext cx="283464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1234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96A"/>
                </a:solidFill>
              </a:rPr>
              <a:t>ENFOQUE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B96A"/>
                </a:solidFill>
              </a:rPr>
              <a:t>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B96A"/>
                </a:solidFill>
              </a:rPr>
              <a:t>PROYECTO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80760" y="2514600"/>
            <a:ext cx="2560320" cy="3383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51460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 Reales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926080"/>
            <a:ext cx="2560320" cy="3383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292608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Centralización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3337560"/>
            <a:ext cx="2560320" cy="3383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33756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Visualización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3749040"/>
            <a:ext cx="2560320" cy="3383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374904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Decisión Basada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 Evidencia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4160520"/>
            <a:ext cx="2560320" cy="3383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416052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Chía, Colombia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7/20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08 · IMPORTANCIA DEL TEMA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96A"/>
                </a:solidFill>
              </a:rPr>
              <a:t>¿Por qué importa ahora?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219456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B96A"/>
                </a:solidFill>
              </a:rPr>
              <a:t>3×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Mayor rentabilidad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empresas data-driven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(Bar-Gill, 2023)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51760" cy="219456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43000"/>
            <a:ext cx="2651760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B96A"/>
                </a:solidFill>
              </a:rPr>
              <a:t>68%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Pymes que adoptan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BI mejoran su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toma de decisiones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(Islam et al., 2023)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651760" cy="219456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43000"/>
            <a:ext cx="2651760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80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B96A"/>
                </a:solidFill>
              </a:rPr>
              <a:t>50%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Reducción esperada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en tiempo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generación de reportes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101E2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1188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Alineación con el MEDIT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3931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El Modelo Educativo Digital Transmoderno de la UdeC exige que los proyectos académicos generen transformación local real. Este proyecto convierte la investigación en impacto directo para una microempresa de Chía.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8/20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09 · LÍNEA DE INVESTIGACIÓN PRINCIPAL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64008" cy="4736592"/>
          </a:xfrm>
          <a:prstGeom prst="rect">
            <a:avLst/>
          </a:prstGeom>
          <a:solidFill>
            <a:srgbClr val="C997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TIC – Tecnologías de la Información y Comunicación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Esta línea de investigación promueve el desarrollo, implementación y evaluación de soluciones tecnológicas orientadas a la transformación digital de organizaciones. El proyecto se inserta directamente al diseñar una arquitectura ETL y un tablero de visualización para una microempresa local.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1920240" cy="54864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Arquitectura ETL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2834640"/>
            <a:ext cx="1920240" cy="54864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146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Visualización de datos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834640"/>
            <a:ext cx="1920240" cy="54864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Transformación digital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12280" y="2834640"/>
            <a:ext cx="1920240" cy="54864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1228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Business Intelligence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566160"/>
            <a:ext cx="8412480" cy="12344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Conexión con el proyecto: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El diseño del modelo ETL + Dashboard constituye una solución tecnológica concreta, evaluable y replicable en otras microempresas del municipio de Chía.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9/20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10 · LÍNEA DE INVESTIGACIÓN COMPLEMENTARIA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Gestión Empresarial e Innovación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6A"/>
                </a:solidFill>
              </a:rPr>
              <a:t>¿Cómo apoya esta línea al proyecto?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Optimización de la gestión operativa de la microempresa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Mejora en la toma de decisiones gerenciales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09981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Reducción de ineficiencias mediante datos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75818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Competitividad de Pymes locales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280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Impacto esperado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 la empresa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📊  KPIs visibles y medibles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⏱️  Ahorro de tiempo operativo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54880" y="33284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 Decisiones basadas en evidencia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54880" y="39867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🏆  Mayor competitividad local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10/20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11 · CONEXIÓN CON EL PROYECTO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6A"/>
                </a:solidFill>
              </a:rPr>
              <a:t>Las dos líneas convergen en una solución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182880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TIC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</a:rPr>
              <a:t>Arquitectura ETL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</a:rPr>
              <a:t>Tablero de Control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</a:rPr>
              <a:t>Transformación Digital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182880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GESTIÓN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Optimización Operativa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Decisiones Gerenciales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Competitividad Pymes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463040"/>
            <a:ext cx="1097280" cy="109728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645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➕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141E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73152" cy="16916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3A"/>
                </a:solidFill>
              </a:rPr>
              <a:t>Resultado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204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 modelo de analítica descriptiva que integra tecnología y gestión para generar valor real en la microempresa de servicios en Chía, respondiendo al enfoque MEDIT de transformación local.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11/20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12 · CONEXIÓN CON LOS ODS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64008" cy="473659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Objetivos de Desarrollo Sostenible relacionados: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594360"/>
          </a:xfrm>
          <a:prstGeom prst="rect">
            <a:avLst/>
          </a:prstGeom>
          <a:solidFill>
            <a:srgbClr val="A2194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ODS 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2651760" cy="6858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45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Trabajo Decente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Crecimiento Económico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2316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 microempresa mejora su productividad y competitividad con datos, generando mayor estabilidad económica y empleo de calidad.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594360"/>
          </a:xfrm>
          <a:prstGeom prst="rect">
            <a:avLst/>
          </a:prstGeom>
          <a:solidFill>
            <a:srgbClr val="F36D25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ODS 9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1645920"/>
            <a:ext cx="2651760" cy="6858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645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Industria, Innovación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 Infraestructura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33172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42316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El modelo ETL y el dashboard constituyen infraestructura digital innovadora para el sector servicios de Chía.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051560"/>
            <a:ext cx="2651760" cy="594360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ODS 17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72200" y="1645920"/>
            <a:ext cx="2651760" cy="6858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645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Alianzas para Lograr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los Objetivos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233172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242316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 alianza Universidad-Empresa genera conocimiento aplicable y transferible a otras microempresas de la región.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12/20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13 · IMPACTO EN LOS 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6A"/>
                </a:solidFill>
              </a:rPr>
              <a:t>¿Cómo contribuye este proyecto?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34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3A"/>
                </a:solidFill>
              </a:rPr>
              <a:t>ODS 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6002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</a:rPr>
              <a:t>Incremento de la productividad operativa de la microempresa mediante decisiones basadas en datos reales.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7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68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3A"/>
                </a:solidFill>
              </a:rPr>
              <a:t>ODS 9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834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</a:rPr>
              <a:t>Implementación de infraestructura tecnológica digital (ETL + Dashboard) replicable en otras Pymes locales.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319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703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3A"/>
                </a:solidFill>
              </a:rPr>
              <a:t>ODS 17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40690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</a:rPr>
              <a:t>Modelo de colaboración academia-empresa que fortalece el ecosistema de innovación de Chía y Cundinamarca.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13/20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14 · MARCO LÓGICO · ANÁLISIS DE PARTICIPACIÓN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64008" cy="473659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Mapa de Actores · Interés vs. Poder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93192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24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ABBCC"/>
                </a:solidFill>
              </a:rPr>
              <a:t>ACTORES CLAVE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Investigador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Gerente de la microempresa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ALTO PODER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ALTO INTERÉS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3931920" cy="182880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24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ABBCC"/>
                </a:solidFill>
              </a:rPr>
              <a:t>MANTENER SATISFECHOS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Universidad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Cundinamarca (Tutor)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ALTO PODER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BAJO INTERÉS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3931920" cy="182880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1B2A"/>
                </a:solidFill>
              </a:rPr>
              <a:t>MANTENER INFORMADOS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Empleados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Operativos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BAJO PODER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ALTO INTERÉS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3063240"/>
            <a:ext cx="3931920" cy="18288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ABBCC"/>
                </a:solidFill>
              </a:rPr>
              <a:t>EN SEGUIMIENTO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772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Clientes finales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 la empresa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BAJO PODER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BAJO INTERÉS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14/20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15 · MARCO LÓGICO · ÁRBOL DE PROBLEMAS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</a:rPr>
              <a:t>EFECTOS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2743200" cy="685800"/>
          </a:xfrm>
          <a:prstGeom prst="rect">
            <a:avLst/>
          </a:prstGeom>
          <a:solidFill>
            <a:srgbClr val="A8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502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Baja competitividad regional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502920"/>
            <a:ext cx="2743200" cy="685800"/>
          </a:xfrm>
          <a:prstGeom prst="rect">
            <a:avLst/>
          </a:prstGeom>
          <a:solidFill>
            <a:srgbClr val="A8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502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Decisiones gerenciales erróneas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502920"/>
            <a:ext cx="2743200" cy="685800"/>
          </a:xfrm>
          <a:prstGeom prst="rect">
            <a:avLst/>
          </a:prstGeom>
          <a:solidFill>
            <a:srgbClr val="A8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502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Reportes financieros inconsistentes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188720"/>
            <a:ext cx="91440" cy="365760"/>
          </a:xfrm>
          <a:prstGeom prst="rect">
            <a:avLst/>
          </a:prstGeom>
          <a:solidFill>
            <a:srgbClr val="A8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2828"/>
                </a:solidFill>
              </a:rPr>
              <a:t>▲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1600200"/>
            <a:ext cx="8595360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00200"/>
            <a:ext cx="8595360" cy="640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45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973A"/>
                </a:solidFill>
              </a:rPr>
              <a:t>⚠️  PROBLEMA CENTRAL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1920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Ceguera informativa y falta de tecnificación en microempresas de servicios en Chía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2514600"/>
            <a:ext cx="91440" cy="36576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73A"/>
                </a:solidFill>
              </a:rPr>
              <a:t>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</a:rPr>
              <a:t>CAUSAS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Recolección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manual de datos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Procesos empíricos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sin estructura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Ausencia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arquitectura ETL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15/20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16 · MARCO LÓGICO · ÁRBOL DE OBJETIVOS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</a:rPr>
              <a:t>FINES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502920"/>
            <a:ext cx="2743200" cy="713232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5029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Optimización de la gestión operativa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502920"/>
            <a:ext cx="2743200" cy="713232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5029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Agilidad en decisiones gerenciales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502920"/>
            <a:ext cx="2743200" cy="713232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5029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Alineación con el MEDIT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6CA8"/>
                </a:solidFill>
              </a:rPr>
              <a:t>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1581912"/>
            <a:ext cx="8595360" cy="914400"/>
          </a:xfrm>
          <a:prstGeom prst="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81912"/>
            <a:ext cx="8595360" cy="640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B96A"/>
                </a:solidFill>
              </a:rPr>
              <a:t>🎯  OBJETIVO CENTRAL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9202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Diseñar un modelo de analítica descriptiva funcional para la microempresa de Chía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73A"/>
                </a:solidFill>
              </a:rPr>
              <a:t>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</a:rPr>
              <a:t>MEDIOS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74320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0632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Diagnóstico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 flujos de datos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71800"/>
            <a:ext cx="274320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0632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Estructuración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del proceso ETL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783080"/>
          </a:xfrm>
          <a:prstGeom prst="rect">
            <a:avLst/>
          </a:prstGeom>
          <a:solidFill>
            <a:srgbClr val="E8F0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74320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0632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Diseño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tableros de control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16/20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17 · MARCO LÓGICO · ANÁLISIS DE ALTERNATIVAS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96A"/>
                </a:solidFill>
              </a:rPr>
              <a:t>¿Por qué Analítica Descriptiva + ETL?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834640" cy="3657600"/>
          </a:xfrm>
          <a:prstGeom prst="rect">
            <a:avLst/>
          </a:prstGeom>
          <a:solidFill>
            <a:srgbClr val="1A2F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Manual (Hojas de cálculo)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A8"/>
                </a:solidFill>
              </a:rPr>
              <a:t>✓ Sin costo inicial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5555"/>
                </a:solidFill>
              </a:rPr>
              <a:t>✗ No escalable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5555"/>
                </a:solidFill>
              </a:rPr>
              <a:t>✗ Error humano elevado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5555"/>
                </a:solidFill>
              </a:rPr>
              <a:t>✗ Sin integración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5555"/>
                </a:solidFill>
              </a:rPr>
              <a:t>✗ Sin visualización en tiempo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834640" cy="365760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88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✅  Analítica Descriptiva + ETL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651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✓ Centralización automática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✓ Visualización en tiempo real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✓ Escalable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✓ Decisiones basadas en datos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✓ Bajo costo (Open Source)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4480560"/>
            <a:ext cx="283464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SELECCIONADA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834640" cy="3657600"/>
          </a:xfrm>
          <a:prstGeom prst="rect">
            <a:avLst/>
          </a:prstGeom>
          <a:solidFill>
            <a:srgbClr val="1A2F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188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ERP Comercial (SAP/Odoo)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CA8"/>
                </a:solidFill>
              </a:rPr>
              <a:t>✓ Funciones avanzadas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4231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5555"/>
                </a:solidFill>
              </a:rPr>
              <a:t>✗ Alto costo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5555"/>
                </a:solidFill>
              </a:rPr>
              <a:t>✗ Complejidad de implementación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5555"/>
                </a:solidFill>
              </a:rPr>
              <a:t>✗ Exceso de funciones para la escala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17/20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18 · RESULTADOS ESPERADOS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11480"/>
            <a:ext cx="64008" cy="4736592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¿Qué se espera lograr?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31920" cy="1783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3931920" cy="64008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234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Diagnóstico documentado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100% de flujos de datos de la microempresa mapeados y documentados.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097280"/>
            <a:ext cx="3931920" cy="1783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097280"/>
            <a:ext cx="3931920" cy="64008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234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Modelo ETL funcional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5488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Base de datos relacional normalizada con scripts de transformación operativos.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3063240"/>
            <a:ext cx="3931920" cy="1783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3063240"/>
            <a:ext cx="3931920" cy="64008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46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Dashboard interactivo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3749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Tablero de control con KPIs clave en tiempo real, accesible para la gerencia.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17720" y="3063240"/>
            <a:ext cx="3931920" cy="1783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063240"/>
            <a:ext cx="3931920" cy="64008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461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Validación exitosa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754880" y="3749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Calificación &gt; 4.0/5.0 en encuesta de usabilidad firmada por el empresario.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18/20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19 · IMPACTO LOCAL EN CUNDINAMARCA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6A"/>
                </a:solidFill>
              </a:rPr>
              <a:t>Transformación digital desde Chía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8412480" cy="1508760"/>
          </a:xfrm>
          <a:prstGeom prst="rect">
            <a:avLst/>
          </a:prstGeom>
          <a:solidFill>
            <a:srgbClr val="15253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1097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Municipio de Chía · Cundinamarca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481328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La microempresa del sector servicios identificada en este municipio obtendrá una solución tecnológica de analítica descriptiva replicable, sentando precedente para la transformación digital de Pymes locales en el departamento de Cundinamarca.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743200"/>
            <a:ext cx="2743200" cy="2057400"/>
          </a:xfrm>
          <a:prstGeom prst="rect">
            <a:avLst/>
          </a:prstGeom>
          <a:solidFill>
            <a:srgbClr val="101E2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834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El modelo puede replicarse en otras microempresas del municipio.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91840" y="2743200"/>
            <a:ext cx="2743200" cy="2057400"/>
          </a:xfrm>
          <a:prstGeom prst="rect">
            <a:avLst/>
          </a:prstGeom>
          <a:solidFill>
            <a:srgbClr val="101E2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8346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Competitividad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8328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Eleva el nivel tecnológico del sector servicios local.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2743200"/>
            <a:ext cx="2743200" cy="2057400"/>
          </a:xfrm>
          <a:prstGeom prst="rect">
            <a:avLst/>
          </a:prstGeom>
          <a:solidFill>
            <a:srgbClr val="101E2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8346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Empleo de calidad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0936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Mejores decisiones operativas generan estabilidad laboral.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19/20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</a:rPr>
              <a:t>§ 20 · CONCLUSIÓN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96A"/>
                </a:solidFill>
              </a:rPr>
              <a:t>En síntesis: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141E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" cy="7772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El diseño de un modelo de analítica descriptiva es viable y necesario para microempresas del sector servicios en Chía.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777240"/>
          </a:xfrm>
          <a:prstGeom prst="rect">
            <a:avLst/>
          </a:prstGeom>
          <a:solidFill>
            <a:srgbClr val="141E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01952"/>
            <a:ext cx="411480" cy="7772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0195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 arquitectura ETL permitirá centralizar datos fragmentados y reducir el tiempo de generación de reportes en un 50%.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8412480" cy="777240"/>
          </a:xfrm>
          <a:prstGeom prst="rect">
            <a:avLst/>
          </a:prstGeom>
          <a:solidFill>
            <a:srgbClr val="141E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98064"/>
            <a:ext cx="411480" cy="7772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98064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88950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 validación con el empresario garantizará que la solución sea usable, interpretable y sostenible en el tiempo.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8412480" cy="777240"/>
          </a:xfrm>
          <a:prstGeom prst="rect">
            <a:avLst/>
          </a:prstGeom>
          <a:solidFill>
            <a:srgbClr val="141E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94176"/>
            <a:ext cx="411480" cy="77724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9417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78561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El proyecto genera valor académico (MEDIT) y valor empresarial real para el municipio de Chía y Cundinamarca.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José Alejandro Espinoza Novoa  ·  Ingeniería de Sistemas  ·  UdeC Chía  · 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20/20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6C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114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" kern="0" dirty="0">
                <a:solidFill>
                  <a:srgbClr val="E8B96A"/>
                </a:solidFill>
              </a:rPr>
              <a:t>¡DATOS QUE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spc="100" kern="0" dirty="0">
                <a:solidFill>
                  <a:srgbClr val="E8B96A"/>
                </a:solidFill>
              </a:rPr>
              <a:t>TRANSFORMAN!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BBCC"/>
                </a:solidFill>
              </a:rPr>
              <a:t>Convirtiendo la ceguera informativa en inteligencia de negocio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ABBCC"/>
                </a:solidFill>
              </a:rPr>
              <a:t>para las microempresas de Chía y Cundinamarca.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286000" y="3749040"/>
            <a:ext cx="4572000" cy="64008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ODS 8 · ODS 9 · ODS 17  |  CAI CTeI ·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677"/>
                </a:solidFill>
              </a:rPr>
              <a:t>Gracias  ·  ¡Preguntas!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PechaKucha · Data-Driven · CAI CTeI</dc:title>
  <dc:subject>PptxGenJS Presentation</dc:subject>
  <dc:creator>José Alejandro Espinoza Novoa</dc:creator>
  <cp:lastModifiedBy>José Alejandro Espinoza Novoa</cp:lastModifiedBy>
  <cp:revision>1</cp:revision>
  <dcterms:created xsi:type="dcterms:W3CDTF">2026-05-11T22:40:03Z</dcterms:created>
  <dcterms:modified xsi:type="dcterms:W3CDTF">2026-05-11T22:40:03Z</dcterms:modified>
</cp:coreProperties>
</file>